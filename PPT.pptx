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81" r:id="rId5"/>
    <p:sldId id="288" r:id="rId6"/>
    <p:sldId id="289" r:id="rId7"/>
    <p:sldId id="290" r:id="rId8"/>
    <p:sldId id="291" r:id="rId9"/>
    <p:sldId id="282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4" r:id="rId22"/>
    <p:sldId id="306" r:id="rId23"/>
    <p:sldId id="307" r:id="rId24"/>
    <p:sldId id="308" r:id="rId25"/>
    <p:sldId id="311" r:id="rId26"/>
    <p:sldId id="312" r:id="rId27"/>
    <p:sldId id="313" r:id="rId28"/>
    <p:sldId id="314" r:id="rId29"/>
    <p:sldId id="283" r:id="rId30"/>
    <p:sldId id="309" r:id="rId31"/>
    <p:sldId id="284" r:id="rId32"/>
    <p:sldId id="310" r:id="rId33"/>
    <p:sldId id="285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er_Tang" initials="z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84" y="930"/>
      </p:cViewPr>
      <p:guideLst>
        <p:guide orient="horz" pos="2160"/>
        <p:guide pos="38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33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查看图片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9"/>
          <a:stretch>
            <a:fillRect/>
          </a:stretch>
        </p:blipFill>
        <p:spPr bwMode="auto">
          <a:xfrm rot="54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7717B-5655-448B-A53D-F76B56925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A739-89F9-4ED6-B7A1-418071077B2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查看图片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9"/>
          <a:stretch>
            <a:fillRect/>
          </a:stretch>
        </p:blipFill>
        <p:spPr bwMode="auto">
          <a:xfrm rot="54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7717B-5655-448B-A53D-F76B56925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A739-89F9-4ED6-B7A1-418071077B2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查看图片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9"/>
          <a:stretch>
            <a:fillRect/>
          </a:stretch>
        </p:blipFill>
        <p:spPr bwMode="auto">
          <a:xfrm rot="54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408490" y="471973"/>
            <a:ext cx="4487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请在此处输入标题</a:t>
            </a:r>
            <a:endParaRPr lang="zh-CN" altLang="en-US" sz="4000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7" name="Picture 2" descr="查看图片"/>
          <p:cNvPicPr>
            <a:picLocks noChangeAspect="1" noChangeArrowheads="1"/>
          </p:cNvPicPr>
          <p:nvPr userDrawn="1"/>
        </p:nvPicPr>
        <p:blipFill rotWithShape="1"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9"/>
          <a:stretch>
            <a:fillRect/>
          </a:stretch>
        </p:blipFill>
        <p:spPr bwMode="auto">
          <a:xfrm rot="54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7717B-5655-448B-A53D-F76B56925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6A739-89F9-4ED6-B7A1-418071077B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7717B-5655-448B-A53D-F76B56925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6A739-89F9-4ED6-B7A1-418071077B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图片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9"/>
          <a:stretch>
            <a:fillRect/>
          </a:stretch>
        </p:blipFill>
        <p:spPr bwMode="auto">
          <a:xfrm rot="54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144395" y="2552065"/>
            <a:ext cx="84804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Unity</a:t>
            </a:r>
            <a:r>
              <a:rPr lang="zh-CN" altLang="en-US" sz="5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课程设计报告</a:t>
            </a:r>
            <a:endParaRPr lang="zh-CN" altLang="en-US" sz="54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5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迷宫</a:t>
            </a:r>
            <a:r>
              <a:rPr lang="zh-CN" altLang="en-US" sz="5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寻宝游戏</a:t>
            </a:r>
            <a:endParaRPr lang="zh-CN" altLang="en-US" sz="54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18455" y="4526280"/>
            <a:ext cx="1924050" cy="4743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fxy</a:t>
            </a:r>
            <a:endParaRPr lang="en-US" altLang="zh-CN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18"/>
          <p:cNvSpPr/>
          <p:nvPr>
            <p:custDataLst>
              <p:tags r:id="rId1"/>
            </p:custDataLst>
          </p:nvPr>
        </p:nvSpPr>
        <p:spPr>
          <a:xfrm>
            <a:off x="106330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圆角矩形 19"/>
          <p:cNvSpPr/>
          <p:nvPr>
            <p:custDataLst>
              <p:tags r:id="rId2"/>
            </p:custDataLst>
          </p:nvPr>
        </p:nvSpPr>
        <p:spPr>
          <a:xfrm>
            <a:off x="366807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圆角矩形 20"/>
          <p:cNvSpPr/>
          <p:nvPr>
            <p:custDataLst>
              <p:tags r:id="rId3"/>
            </p:custDataLst>
          </p:nvPr>
        </p:nvSpPr>
        <p:spPr>
          <a:xfrm>
            <a:off x="627284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圆角矩形 21"/>
          <p:cNvSpPr/>
          <p:nvPr>
            <p:custDataLst>
              <p:tags r:id="rId4"/>
            </p:custDataLst>
          </p:nvPr>
        </p:nvSpPr>
        <p:spPr>
          <a:xfrm>
            <a:off x="887761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847407" y="1211263"/>
            <a:ext cx="382524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90000"/>
              </a:lnSpc>
            </a:pPr>
            <a:r>
              <a:rPr lang="zh-CN" altLang="en-US" sz="7200" cap="all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目录 </a:t>
            </a:r>
            <a:endParaRPr lang="zh-CN" altLang="en-US" sz="7200" cap="all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135062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01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6"/>
          <p:cNvSpPr txBox="1"/>
          <p:nvPr>
            <p:custDataLst>
              <p:tags r:id="rId6"/>
            </p:custDataLst>
          </p:nvPr>
        </p:nvSpPr>
        <p:spPr>
          <a:xfrm>
            <a:off x="1135062" y="4088448"/>
            <a:ext cx="260540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基本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设计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 flipH="1">
            <a:off x="1241742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43"/>
          <p:cNvSpPr txBox="1"/>
          <p:nvPr>
            <p:custDataLst>
              <p:tags r:id="rId8"/>
            </p:custDataLst>
          </p:nvPr>
        </p:nvSpPr>
        <p:spPr>
          <a:xfrm>
            <a:off x="3739832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02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44"/>
          <p:cNvSpPr txBox="1"/>
          <p:nvPr>
            <p:custDataLst>
              <p:tags r:id="rId9"/>
            </p:custDataLst>
          </p:nvPr>
        </p:nvSpPr>
        <p:spPr>
          <a:xfrm>
            <a:off x="3739832" y="4088448"/>
            <a:ext cx="253301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实现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逻辑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0"/>
            </p:custDataLst>
          </p:nvPr>
        </p:nvCxnSpPr>
        <p:spPr>
          <a:xfrm flipH="1">
            <a:off x="3846512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48"/>
          <p:cNvSpPr txBox="1"/>
          <p:nvPr>
            <p:custDataLst>
              <p:tags r:id="rId11"/>
            </p:custDataLst>
          </p:nvPr>
        </p:nvSpPr>
        <p:spPr>
          <a:xfrm>
            <a:off x="6344602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03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49"/>
          <p:cNvSpPr txBox="1"/>
          <p:nvPr>
            <p:custDataLst>
              <p:tags r:id="rId12"/>
            </p:custDataLst>
          </p:nvPr>
        </p:nvSpPr>
        <p:spPr>
          <a:xfrm>
            <a:off x="6344602" y="4088448"/>
            <a:ext cx="239522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存在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问题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 flipH="1">
            <a:off x="6451282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53"/>
          <p:cNvSpPr txBox="1"/>
          <p:nvPr>
            <p:custDataLst>
              <p:tags r:id="rId14"/>
            </p:custDataLst>
          </p:nvPr>
        </p:nvSpPr>
        <p:spPr>
          <a:xfrm>
            <a:off x="8948737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04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54"/>
          <p:cNvSpPr txBox="1"/>
          <p:nvPr>
            <p:custDataLst>
              <p:tags r:id="rId15"/>
            </p:custDataLst>
          </p:nvPr>
        </p:nvSpPr>
        <p:spPr>
          <a:xfrm>
            <a:off x="8948737" y="4088448"/>
            <a:ext cx="239522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未来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展望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6"/>
            </p:custDataLst>
          </p:nvPr>
        </p:nvCxnSpPr>
        <p:spPr>
          <a:xfrm flipH="1">
            <a:off x="9055417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"/>
          <p:cNvSpPr txBox="1"/>
          <p:nvPr/>
        </p:nvSpPr>
        <p:spPr>
          <a:xfrm>
            <a:off x="3228022" y="1812608"/>
            <a:ext cx="2118360" cy="333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Light" panose="020B0300000000000000" charset="-122"/>
                <a:sym typeface="思源黑体 CN Medium" panose="020B0600000000000000" pitchFamily="34" charset="-122"/>
              </a:rPr>
              <a:t>CONTENTS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2958147" y="1888173"/>
            <a:ext cx="139700" cy="228600"/>
          </a:xfrm>
          <a:prstGeom prst="line">
            <a:avLst/>
          </a:prstGeom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9"/>
          <p:cNvSpPr txBox="1"/>
          <p:nvPr/>
        </p:nvSpPr>
        <p:spPr>
          <a:xfrm>
            <a:off x="4312638" y="3029611"/>
            <a:ext cx="5994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基本</a:t>
            </a:r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设计</a:t>
            </a:r>
            <a:endParaRPr lang="zh-CN" altLang="en-US" sz="6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文本框 20"/>
          <p:cNvSpPr txBox="1"/>
          <p:nvPr/>
        </p:nvSpPr>
        <p:spPr>
          <a:xfrm>
            <a:off x="5246405" y="159029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01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3270603" y="4334784"/>
            <a:ext cx="6672580" cy="728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r>
              <a:rPr lang="zh-CN" altLang="en-US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角色设计、场景搭建、</a:t>
            </a:r>
            <a:r>
              <a:rPr lang="en-US" altLang="zh-CN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UI</a:t>
            </a:r>
            <a:r>
              <a:rPr lang="zh-CN" altLang="en-US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设计</a:t>
            </a:r>
            <a:endParaRPr lang="zh-CN" altLang="en-US" sz="32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5925221" y="5262062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3520" y="4305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角色设计</a:t>
            </a:r>
            <a:endParaRPr lang="zh-CN" altLang="en-US" sz="4000"/>
          </a:p>
        </p:txBody>
      </p:sp>
      <p:pic>
        <p:nvPicPr>
          <p:cNvPr id="3" name="图片 2" descr="玩家角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80" y="1340485"/>
            <a:ext cx="4480560" cy="4937760"/>
          </a:xfrm>
          <a:prstGeom prst="rect">
            <a:avLst/>
          </a:prstGeom>
        </p:spPr>
      </p:pic>
      <p:pic>
        <p:nvPicPr>
          <p:cNvPr id="4" name="图片 3" descr="怪物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125" y="1340485"/>
            <a:ext cx="428879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3520" y="43053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场景设计</a:t>
            </a:r>
            <a:endParaRPr lang="zh-CN" altLang="en-US" sz="4000"/>
          </a:p>
        </p:txBody>
      </p:sp>
      <p:pic>
        <p:nvPicPr>
          <p:cNvPr id="5" name="图片 4" descr="迷宫设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405" y="1098550"/>
            <a:ext cx="5777230" cy="5518150"/>
          </a:xfrm>
          <a:prstGeom prst="rect">
            <a:avLst/>
          </a:prstGeom>
        </p:spPr>
      </p:pic>
      <p:pic>
        <p:nvPicPr>
          <p:cNvPr id="6" name="图片 5" descr="钻石设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75" y="1150620"/>
            <a:ext cx="3706495" cy="5335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98145" y="74358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UI</a:t>
            </a:r>
            <a:r>
              <a:rPr lang="zh-CN" altLang="en-US" sz="4000"/>
              <a:t>设计</a:t>
            </a:r>
            <a:endParaRPr lang="zh-CN" altLang="en-US" sz="4000"/>
          </a:p>
        </p:txBody>
      </p:sp>
      <p:pic>
        <p:nvPicPr>
          <p:cNvPr id="5" name="图片 4" descr="ui过渡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30" y="1892935"/>
            <a:ext cx="5566410" cy="3263265"/>
          </a:xfrm>
          <a:prstGeom prst="rect">
            <a:avLst/>
          </a:prstGeom>
        </p:spPr>
      </p:pic>
      <p:pic>
        <p:nvPicPr>
          <p:cNvPr id="6" name="图片 5" descr="ui主界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565" y="2026285"/>
            <a:ext cx="5567045" cy="332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7345" y="51752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UI</a:t>
            </a:r>
            <a:r>
              <a:rPr lang="zh-CN" altLang="en-US" sz="4000"/>
              <a:t>设计</a:t>
            </a:r>
            <a:endParaRPr lang="zh-CN" altLang="en-US" sz="4000"/>
          </a:p>
        </p:txBody>
      </p:sp>
      <p:pic>
        <p:nvPicPr>
          <p:cNvPr id="3" name="图片 2" descr="怪物预警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450" y="5349240"/>
            <a:ext cx="4000500" cy="975360"/>
          </a:xfrm>
          <a:prstGeom prst="rect">
            <a:avLst/>
          </a:prstGeom>
        </p:spPr>
      </p:pic>
      <p:pic>
        <p:nvPicPr>
          <p:cNvPr id="4" name="图片 3" descr="得分和倒计时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620" y="5204460"/>
            <a:ext cx="2148840" cy="1120140"/>
          </a:xfrm>
          <a:prstGeom prst="rect">
            <a:avLst/>
          </a:prstGeom>
        </p:spPr>
      </p:pic>
      <p:pic>
        <p:nvPicPr>
          <p:cNvPr id="9" name="图片 8" descr="玩家胜利u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628140"/>
            <a:ext cx="4808220" cy="2758440"/>
          </a:xfrm>
          <a:prstGeom prst="rect">
            <a:avLst/>
          </a:prstGeom>
        </p:spPr>
      </p:pic>
      <p:pic>
        <p:nvPicPr>
          <p:cNvPr id="11" name="图片 10" descr="玩家死亡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605" y="1628140"/>
            <a:ext cx="45110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9"/>
          <p:cNvSpPr txBox="1"/>
          <p:nvPr/>
        </p:nvSpPr>
        <p:spPr>
          <a:xfrm>
            <a:off x="4314543" y="2924836"/>
            <a:ext cx="5994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实现</a:t>
            </a:r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逻辑</a:t>
            </a:r>
            <a:endParaRPr lang="zh-CN" altLang="en-US" sz="6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文本框 20"/>
          <p:cNvSpPr txBox="1"/>
          <p:nvPr/>
        </p:nvSpPr>
        <p:spPr>
          <a:xfrm>
            <a:off x="5246405" y="159029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02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4428208" y="4210324"/>
            <a:ext cx="6672580" cy="728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Light" panose="020B0300000000000000" charset="-122"/>
              </a:defRPr>
            </a:lvl1pPr>
          </a:lstStyle>
          <a:p>
            <a:r>
              <a:rPr lang="zh-CN" altLang="en-US" sz="28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动画控制器、代码</a:t>
            </a:r>
            <a:endParaRPr lang="zh-CN" altLang="en-US" sz="2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5925221" y="5262062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1320" y="4241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动画控制器</a:t>
            </a:r>
            <a:endParaRPr lang="zh-CN" altLang="en-US" sz="3200"/>
          </a:p>
        </p:txBody>
      </p:sp>
      <p:pic>
        <p:nvPicPr>
          <p:cNvPr id="3" name="图片 2" descr="动画控制器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190" y="1422400"/>
            <a:ext cx="9365615" cy="949960"/>
          </a:xfrm>
          <a:prstGeom prst="rect">
            <a:avLst/>
          </a:prstGeom>
        </p:spPr>
      </p:pic>
      <p:pic>
        <p:nvPicPr>
          <p:cNvPr id="4" name="图片 3" descr="动画控制器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35" y="2650490"/>
            <a:ext cx="7631430" cy="3868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7380" y="50609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代码</a:t>
            </a:r>
            <a:endParaRPr lang="zh-CN" altLang="en-US" sz="4000"/>
          </a:p>
        </p:txBody>
      </p:sp>
      <p:pic>
        <p:nvPicPr>
          <p:cNvPr id="3" name="图片 2" descr="总代码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025" y="506095"/>
            <a:ext cx="6868160" cy="60852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27380" y="50609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代码</a:t>
            </a:r>
            <a:endParaRPr lang="zh-CN" altLang="en-US" sz="4000"/>
          </a:p>
        </p:txBody>
      </p:sp>
      <p:pic>
        <p:nvPicPr>
          <p:cNvPr id="4" name="图片 3" descr="钻石悬浮效果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0" y="1385570"/>
            <a:ext cx="8778240" cy="3139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87880" y="4786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钻石悬浮</a:t>
            </a:r>
            <a:r>
              <a:rPr lang="zh-CN" altLang="en-US"/>
              <a:t>效果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生成迷宫代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" y="475615"/>
            <a:ext cx="9730740" cy="5412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99130" y="6176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</a:t>
            </a:r>
            <a:r>
              <a:rPr lang="zh-CN" altLang="en-US"/>
              <a:t>迷宫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生成怪物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538480"/>
            <a:ext cx="9438640" cy="5321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201545" y="6061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</a:t>
            </a:r>
            <a:r>
              <a:rPr lang="zh-CN" altLang="en-US"/>
              <a:t>怪物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94940" y="6259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</a:t>
            </a:r>
            <a:r>
              <a:rPr lang="zh-CN" altLang="en-US"/>
              <a:t>钻石</a:t>
            </a:r>
            <a:endParaRPr lang="zh-CN" altLang="en-US"/>
          </a:p>
        </p:txBody>
      </p:sp>
      <p:pic>
        <p:nvPicPr>
          <p:cNvPr id="4" name="图片 3" descr="生成钻石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0" y="503555"/>
            <a:ext cx="9747250" cy="56146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怪物攻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367665"/>
            <a:ext cx="11112500" cy="5556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97810" y="6257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怪物攻击</a:t>
            </a:r>
            <a:r>
              <a:rPr lang="zh-CN" altLang="en-US"/>
              <a:t>逻辑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97810" y="6052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怪物</a:t>
            </a:r>
            <a:r>
              <a:rPr lang="zh-CN" altLang="en-US"/>
              <a:t>生命值</a:t>
            </a:r>
            <a:endParaRPr lang="zh-CN" altLang="en-US"/>
          </a:p>
        </p:txBody>
      </p:sp>
      <p:pic>
        <p:nvPicPr>
          <p:cNvPr id="2" name="图片 1" descr="怪物生命值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080" y="170815"/>
            <a:ext cx="8990965" cy="57169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97810" y="6052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怪物预警</a:t>
            </a:r>
            <a:r>
              <a:rPr lang="zh-CN" altLang="en-US"/>
              <a:t>逻辑</a:t>
            </a:r>
            <a:endParaRPr lang="zh-CN" altLang="en-US"/>
          </a:p>
        </p:txBody>
      </p:sp>
      <p:pic>
        <p:nvPicPr>
          <p:cNvPr id="3" name="图片 2" descr="怪物预警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40" y="316230"/>
            <a:ext cx="8441055" cy="55797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97810" y="6052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护盾</a:t>
            </a:r>
            <a:r>
              <a:rPr lang="zh-CN" altLang="en-US"/>
              <a:t>冷却</a:t>
            </a:r>
            <a:endParaRPr lang="zh-CN" altLang="en-US"/>
          </a:p>
        </p:txBody>
      </p:sp>
      <p:pic>
        <p:nvPicPr>
          <p:cNvPr id="2" name="图片 1" descr="护盾冷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" y="502920"/>
            <a:ext cx="8194040" cy="5323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97810" y="6052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固定巡逻点，来回巡逻</a:t>
            </a:r>
            <a:r>
              <a:rPr lang="zh-CN" altLang="en-US"/>
              <a:t>逻辑</a:t>
            </a:r>
            <a:endParaRPr lang="zh-CN" altLang="en-US"/>
          </a:p>
        </p:txBody>
      </p:sp>
      <p:pic>
        <p:nvPicPr>
          <p:cNvPr id="3" name="图片 2" descr="来回巡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0" y="137795"/>
            <a:ext cx="7575550" cy="57378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寻路逻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322580"/>
            <a:ext cx="11149330" cy="5553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35755" y="6031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寻路提示</a:t>
            </a:r>
            <a:r>
              <a:rPr lang="zh-CN" altLang="en-US"/>
              <a:t>逻辑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35755" y="6031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玩家</a:t>
            </a:r>
            <a:r>
              <a:rPr lang="zh-CN" altLang="en-US"/>
              <a:t>移动</a:t>
            </a:r>
            <a:endParaRPr lang="zh-CN" altLang="en-US"/>
          </a:p>
        </p:txBody>
      </p:sp>
      <p:pic>
        <p:nvPicPr>
          <p:cNvPr id="3" name="图片 2" descr="玩家移动代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65" y="222885"/>
            <a:ext cx="9067800" cy="5692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35755" y="6031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玩家</a:t>
            </a:r>
            <a:r>
              <a:rPr lang="zh-CN" altLang="en-US"/>
              <a:t>生命值</a:t>
            </a:r>
            <a:endParaRPr lang="zh-CN" altLang="en-US"/>
          </a:p>
        </p:txBody>
      </p:sp>
      <p:pic>
        <p:nvPicPr>
          <p:cNvPr id="2" name="图片 1" descr="玩家血条代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220" y="163830"/>
            <a:ext cx="6219190" cy="58204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35755" y="6031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玩家</a:t>
            </a:r>
            <a:r>
              <a:rPr lang="zh-CN" altLang="en-US"/>
              <a:t>胜利</a:t>
            </a:r>
            <a:endParaRPr lang="zh-CN" altLang="en-US"/>
          </a:p>
        </p:txBody>
      </p:sp>
      <p:pic>
        <p:nvPicPr>
          <p:cNvPr id="3" name="图片 2" descr="胜利逻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72720"/>
            <a:ext cx="8587740" cy="5730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.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10" y="365760"/>
            <a:ext cx="5044440" cy="2994660"/>
          </a:xfrm>
          <a:prstGeom prst="rect">
            <a:avLst/>
          </a:prstGeom>
        </p:spPr>
      </p:pic>
      <p:pic>
        <p:nvPicPr>
          <p:cNvPr id="3" name="图片 2" descr="0.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64565"/>
            <a:ext cx="5044440" cy="1546860"/>
          </a:xfrm>
          <a:prstGeom prst="rect">
            <a:avLst/>
          </a:prstGeom>
        </p:spPr>
      </p:pic>
      <p:pic>
        <p:nvPicPr>
          <p:cNvPr id="4" name="图片 3" descr="0.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90" y="4170680"/>
            <a:ext cx="5196840" cy="1920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1350" y="3605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过渡页</a:t>
            </a:r>
            <a:r>
              <a:rPr lang="en-US" altLang="zh-CN"/>
              <a:t>ui</a:t>
            </a:r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096000" y="27495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游戏介绍</a:t>
            </a:r>
            <a:r>
              <a:rPr lang="en-US" altLang="zh-CN"/>
              <a:t>ui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928745" y="63620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Game Over UI</a:t>
            </a:r>
            <a:r>
              <a:rPr lang="zh-CN" altLang="en-US"/>
              <a:t>调用</a:t>
            </a:r>
            <a:r>
              <a:rPr lang="en-US" altLang="zh-CN"/>
              <a:t>+</a:t>
            </a:r>
            <a:r>
              <a:rPr lang="zh-CN" altLang="en-US"/>
              <a:t>计分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.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641350"/>
            <a:ext cx="5151120" cy="4968240"/>
          </a:xfrm>
          <a:prstGeom prst="rect">
            <a:avLst/>
          </a:prstGeom>
        </p:spPr>
      </p:pic>
      <p:pic>
        <p:nvPicPr>
          <p:cNvPr id="3" name="图片 2" descr="0.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15160"/>
            <a:ext cx="5189220" cy="1691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" y="5808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迷宫生成、怪物生成、钻石</a:t>
            </a:r>
            <a:r>
              <a:rPr lang="zh-CN" altLang="en-US"/>
              <a:t>生成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33210" y="3752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巡逻点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.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492760"/>
            <a:ext cx="5189220" cy="5204460"/>
          </a:xfrm>
          <a:prstGeom prst="rect">
            <a:avLst/>
          </a:prstGeom>
        </p:spPr>
      </p:pic>
      <p:pic>
        <p:nvPicPr>
          <p:cNvPr id="3" name="图片 2" descr="0.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740" y="559435"/>
            <a:ext cx="5371465" cy="51384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1510" y="5881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怪物生命值、攻击</a:t>
            </a:r>
            <a:r>
              <a:rPr lang="zh-CN" altLang="en-US"/>
              <a:t>逻辑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24295" y="5881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玩家控制</a:t>
            </a:r>
            <a:r>
              <a:rPr lang="zh-CN" altLang="en-US"/>
              <a:t>逻辑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.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" y="943610"/>
            <a:ext cx="5227320" cy="3406140"/>
          </a:xfrm>
          <a:prstGeom prst="rect">
            <a:avLst/>
          </a:prstGeom>
        </p:spPr>
      </p:pic>
      <p:pic>
        <p:nvPicPr>
          <p:cNvPr id="3" name="图片 2" descr="0.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2267585"/>
            <a:ext cx="5181600" cy="1257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6435" y="4691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玩家生命值</a:t>
            </a:r>
            <a:r>
              <a:rPr lang="en-US" altLang="zh-CN"/>
              <a:t>+</a:t>
            </a:r>
            <a:r>
              <a:rPr lang="zh-CN" altLang="en-US"/>
              <a:t>防护罩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813550" y="4055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寻路</a:t>
            </a:r>
            <a:r>
              <a:rPr lang="zh-CN" altLang="en-US"/>
              <a:t>提示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9"/>
          <p:cNvSpPr txBox="1"/>
          <p:nvPr/>
        </p:nvSpPr>
        <p:spPr>
          <a:xfrm>
            <a:off x="4284063" y="2924836"/>
            <a:ext cx="5994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存在</a:t>
            </a:r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问题</a:t>
            </a:r>
            <a:endParaRPr lang="zh-CN" altLang="en-US" sz="6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文本框 20"/>
          <p:cNvSpPr txBox="1"/>
          <p:nvPr/>
        </p:nvSpPr>
        <p:spPr>
          <a:xfrm>
            <a:off x="5246405" y="159029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03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5925221" y="5262062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18"/>
          <p:cNvSpPr/>
          <p:nvPr>
            <p:custDataLst>
              <p:tags r:id="rId1"/>
            </p:custDataLst>
          </p:nvPr>
        </p:nvSpPr>
        <p:spPr>
          <a:xfrm>
            <a:off x="106330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圆角矩形 19"/>
          <p:cNvSpPr/>
          <p:nvPr>
            <p:custDataLst>
              <p:tags r:id="rId2"/>
            </p:custDataLst>
          </p:nvPr>
        </p:nvSpPr>
        <p:spPr>
          <a:xfrm>
            <a:off x="366807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圆角矩形 20"/>
          <p:cNvSpPr/>
          <p:nvPr>
            <p:custDataLst>
              <p:tags r:id="rId3"/>
            </p:custDataLst>
          </p:nvPr>
        </p:nvSpPr>
        <p:spPr>
          <a:xfrm>
            <a:off x="627284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圆角矩形 21"/>
          <p:cNvSpPr/>
          <p:nvPr>
            <p:custDataLst>
              <p:tags r:id="rId4"/>
            </p:custDataLst>
          </p:nvPr>
        </p:nvSpPr>
        <p:spPr>
          <a:xfrm>
            <a:off x="8877617" y="2636838"/>
            <a:ext cx="2466975" cy="3009900"/>
          </a:xfrm>
          <a:prstGeom prst="roundRect">
            <a:avLst>
              <a:gd name="adj" fmla="val 300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Light" panose="020B03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135062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01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6"/>
          <p:cNvSpPr txBox="1"/>
          <p:nvPr>
            <p:custDataLst>
              <p:tags r:id="rId6"/>
            </p:custDataLst>
          </p:nvPr>
        </p:nvSpPr>
        <p:spPr>
          <a:xfrm>
            <a:off x="1135062" y="4088448"/>
            <a:ext cx="260540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动画灵活度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不够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7"/>
            </p:custDataLst>
          </p:nvPr>
        </p:nvCxnSpPr>
        <p:spPr>
          <a:xfrm flipH="1">
            <a:off x="1241742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43"/>
          <p:cNvSpPr txBox="1"/>
          <p:nvPr>
            <p:custDataLst>
              <p:tags r:id="rId8"/>
            </p:custDataLst>
          </p:nvPr>
        </p:nvSpPr>
        <p:spPr>
          <a:xfrm>
            <a:off x="3739832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02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44"/>
          <p:cNvSpPr txBox="1"/>
          <p:nvPr>
            <p:custDataLst>
              <p:tags r:id="rId9"/>
            </p:custDataLst>
          </p:nvPr>
        </p:nvSpPr>
        <p:spPr>
          <a:xfrm>
            <a:off x="3739832" y="4088448"/>
            <a:ext cx="253301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关卡复杂度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不够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0"/>
            </p:custDataLst>
          </p:nvPr>
        </p:nvCxnSpPr>
        <p:spPr>
          <a:xfrm flipH="1">
            <a:off x="3846512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48"/>
          <p:cNvSpPr txBox="1"/>
          <p:nvPr>
            <p:custDataLst>
              <p:tags r:id="rId11"/>
            </p:custDataLst>
          </p:nvPr>
        </p:nvSpPr>
        <p:spPr>
          <a:xfrm>
            <a:off x="6344602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03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49"/>
          <p:cNvSpPr txBox="1"/>
          <p:nvPr>
            <p:custDataLst>
              <p:tags r:id="rId12"/>
            </p:custDataLst>
          </p:nvPr>
        </p:nvSpPr>
        <p:spPr>
          <a:xfrm>
            <a:off x="6344602" y="4088448"/>
            <a:ext cx="239522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逻辑不够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灵活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 flipH="1">
            <a:off x="6451282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53"/>
          <p:cNvSpPr txBox="1"/>
          <p:nvPr>
            <p:custDataLst>
              <p:tags r:id="rId14"/>
            </p:custDataLst>
          </p:nvPr>
        </p:nvSpPr>
        <p:spPr>
          <a:xfrm>
            <a:off x="8948737" y="2950528"/>
            <a:ext cx="141287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800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04</a:t>
            </a:r>
            <a:endParaRPr lang="en-US" altLang="zh-CN" sz="800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文本框 54"/>
          <p:cNvSpPr txBox="1"/>
          <p:nvPr>
            <p:custDataLst>
              <p:tags r:id="rId15"/>
            </p:custDataLst>
          </p:nvPr>
        </p:nvSpPr>
        <p:spPr>
          <a:xfrm>
            <a:off x="8948737" y="4088448"/>
            <a:ext cx="239522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lvl="1">
              <a:buClrTx/>
              <a:buSzTx/>
              <a:buFontTx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游戏音效</a:t>
            </a:r>
            <a:r>
              <a:rPr lang="zh-CN" altLang="en-US" sz="25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单调</a:t>
            </a:r>
            <a:endParaRPr lang="zh-CN" altLang="en-US" sz="25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6"/>
            </p:custDataLst>
          </p:nvPr>
        </p:nvCxnSpPr>
        <p:spPr>
          <a:xfrm flipH="1">
            <a:off x="9055417" y="5119053"/>
            <a:ext cx="33274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9"/>
          <p:cNvSpPr txBox="1"/>
          <p:nvPr/>
        </p:nvSpPr>
        <p:spPr>
          <a:xfrm>
            <a:off x="4129123" y="3070886"/>
            <a:ext cx="5994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未来</a:t>
            </a:r>
            <a:r>
              <a:rPr lang="zh-CN" altLang="en-US" sz="66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展望</a:t>
            </a:r>
            <a:endParaRPr lang="zh-CN" altLang="en-US" sz="66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文本框 20"/>
          <p:cNvSpPr txBox="1"/>
          <p:nvPr/>
        </p:nvSpPr>
        <p:spPr>
          <a:xfrm>
            <a:off x="5246405" y="1590295"/>
            <a:ext cx="213423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9600" dirty="0">
                <a:gradFill>
                  <a:gsLst>
                    <a:gs pos="16000">
                      <a:schemeClr val="tx1">
                        <a:lumMod val="95000"/>
                        <a:lumOff val="5000"/>
                        <a:alpha val="0"/>
                      </a:schemeClr>
                    </a:gs>
                    <a:gs pos="100000">
                      <a:schemeClr val="tx1">
                        <a:lumMod val="95000"/>
                        <a:lumOff val="5000"/>
                        <a:alpha val="67000"/>
                      </a:schemeClr>
                    </a:gs>
                  </a:gsLst>
                  <a:lin ang="16200000" scaled="0"/>
                </a:gra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思源黑体 CN Bold" panose="020B0800000000000000" charset="-122"/>
                <a:sym typeface="思源黑体 CN Medium" panose="020B0600000000000000" pitchFamily="34" charset="-122"/>
              </a:rPr>
              <a:t>04</a:t>
            </a:r>
            <a:endParaRPr lang="en-US" altLang="zh-CN" sz="9600" dirty="0">
              <a:gradFill>
                <a:gsLst>
                  <a:gs pos="16000">
                    <a:schemeClr val="tx1">
                      <a:lumMod val="95000"/>
                      <a:lumOff val="5000"/>
                      <a:alpha val="0"/>
                    </a:schemeClr>
                  </a:gs>
                  <a:gs pos="100000">
                    <a:schemeClr val="tx1">
                      <a:lumMod val="95000"/>
                      <a:lumOff val="5000"/>
                      <a:alpha val="67000"/>
                    </a:schemeClr>
                  </a:gs>
                </a:gsLst>
                <a:lin ang="16200000" scaled="0"/>
              </a:gra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黑体 CN Bold" panose="020B0800000000000000" charset="-122"/>
              <a:sym typeface="思源黑体 CN Medium" panose="020B0600000000000000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5925221" y="5262062"/>
            <a:ext cx="388302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25625" y="767715"/>
            <a:ext cx="7171690" cy="12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600">
                <a:solidFill>
                  <a:schemeClr val="accent4"/>
                </a:solidFill>
                <a:latin typeface="+mj-lt"/>
                <a:ea typeface="OPPOSans R" panose="00020600040101010101" charset="-122"/>
                <a:cs typeface="思源黑体 Regular" panose="020B0500000000000000" charset="-122"/>
              </a:defRPr>
            </a:lvl1pPr>
          </a:lstStyle>
          <a:p>
            <a:r>
              <a:rPr lang="zh-CN" altLang="en-US" dirty="0">
                <a:ea typeface="+mj-lt"/>
              </a:rPr>
              <a:t>未来展望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 flipH="1">
            <a:off x="1198880" y="1083945"/>
            <a:ext cx="513715" cy="39941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84580" y="1882140"/>
            <a:ext cx="3602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增强</a:t>
            </a:r>
            <a:r>
              <a:rPr lang="en-US" altLang="zh-CN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AI</a:t>
            </a: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系统 </a:t>
            </a:r>
            <a:endParaRPr lang="zh-CN" altLang="en-US" sz="3200" dirty="0">
              <a:solidFill>
                <a:schemeClr val="accent4"/>
              </a:solidFill>
              <a:ea typeface="+mn-lt"/>
              <a:cs typeface="+mn-lt"/>
              <a:sym typeface="+mn-ea"/>
            </a:endParaRPr>
          </a:p>
        </p:txBody>
      </p:sp>
      <p:pic>
        <p:nvPicPr>
          <p:cNvPr id="22" name="图形 21" descr="undraw_ideas_flow_re_bme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7445" y="2176780"/>
            <a:ext cx="2218690" cy="3142615"/>
          </a:xfrm>
          <a:prstGeom prst="rect">
            <a:avLst/>
          </a:prstGeom>
          <a:effectLst>
            <a:outerShdw blurRad="101600" dist="38100" dir="2700000" algn="tl" rotWithShape="0">
              <a:schemeClr val="accent6">
                <a:lumMod val="25000"/>
                <a:alpha val="20000"/>
              </a:schemeClr>
            </a:outerShdw>
          </a:effectLst>
        </p:spPr>
      </p:pic>
      <p:sp>
        <p:nvSpPr>
          <p:cNvPr id="37" name="矩形: 剪去对角 36"/>
          <p:cNvSpPr/>
          <p:nvPr/>
        </p:nvSpPr>
        <p:spPr>
          <a:xfrm>
            <a:off x="1150620" y="2740660"/>
            <a:ext cx="2270125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1673225" y="2778760"/>
            <a:ext cx="2413635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46480" y="3774440"/>
            <a:ext cx="3602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增加更多</a:t>
            </a: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关卡</a:t>
            </a:r>
            <a:endParaRPr lang="zh-CN" altLang="en-US" sz="3200" dirty="0">
              <a:solidFill>
                <a:schemeClr val="accent4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7" name="矩形: 剪去对角 16"/>
          <p:cNvSpPr/>
          <p:nvPr/>
        </p:nvSpPr>
        <p:spPr>
          <a:xfrm>
            <a:off x="1112520" y="4632960"/>
            <a:ext cx="150114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112520" y="4671060"/>
            <a:ext cx="2950845" cy="82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343140" y="1882140"/>
            <a:ext cx="3602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增加游戏</a:t>
            </a: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音效 </a:t>
            </a:r>
            <a:endParaRPr lang="zh-CN" altLang="en-US" sz="3200" dirty="0">
              <a:solidFill>
                <a:schemeClr val="accent4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1" name="矩形: 剪去对角 20"/>
          <p:cNvSpPr/>
          <p:nvPr/>
        </p:nvSpPr>
        <p:spPr>
          <a:xfrm>
            <a:off x="9501505" y="2760345"/>
            <a:ext cx="1365250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7964805" y="2798445"/>
            <a:ext cx="2413635" cy="8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113905" y="3794125"/>
            <a:ext cx="4260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道具栏和</a:t>
            </a:r>
            <a:r>
              <a:rPr lang="zh-CN" altLang="en-US" sz="3200" dirty="0">
                <a:solidFill>
                  <a:schemeClr val="accent4"/>
                </a:solidFill>
                <a:ea typeface="+mn-lt"/>
                <a:cs typeface="+mn-lt"/>
                <a:sym typeface="+mn-ea"/>
              </a:rPr>
              <a:t>掉落物系统 </a:t>
            </a:r>
            <a:endParaRPr lang="zh-CN" altLang="en-US" sz="3200" dirty="0">
              <a:solidFill>
                <a:schemeClr val="accent4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26" name="矩形: 剪去对角 25"/>
          <p:cNvSpPr/>
          <p:nvPr/>
        </p:nvSpPr>
        <p:spPr>
          <a:xfrm>
            <a:off x="8902700" y="4652645"/>
            <a:ext cx="2013585" cy="76200"/>
          </a:xfrm>
          <a:prstGeom prst="snip2DiagRect">
            <a:avLst>
              <a:gd name="adj1" fmla="val 50000"/>
              <a:gd name="adj2" fmla="val 16667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77800" dist="889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947025" y="4705350"/>
            <a:ext cx="2964180" cy="381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图片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19"/>
          <a:stretch>
            <a:fillRect/>
          </a:stretch>
        </p:blipFill>
        <p:spPr bwMode="auto">
          <a:xfrm rot="54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092369" y="2551837"/>
            <a:ext cx="600726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感谢</a:t>
            </a:r>
            <a:r>
              <a:rPr lang="zh-CN" altLang="en-US" sz="5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聆听！</a:t>
            </a:r>
            <a:endParaRPr lang="zh-CN" altLang="en-US" sz="54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3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4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5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6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7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8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9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0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1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2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3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4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5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6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7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8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19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0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1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2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3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4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5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6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7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8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29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30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31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32.xml><?xml version="1.0" encoding="utf-8"?>
<p:tagLst xmlns:p="http://schemas.openxmlformats.org/presentationml/2006/main">
  <p:tag name="KSO_WM_DIAGRAM_VIRTUALLY_FRAME" val="{&quot;height&quot;:237.00000000000006,&quot;left&quot;:83.72496062992126,&quot;top&quot;:207.62503937007872,&quot;width&quot;:809.55}"/>
</p:tagLst>
</file>

<file path=ppt/tags/tag33.xml><?xml version="1.0" encoding="utf-8"?>
<p:tagLst xmlns:p="http://schemas.openxmlformats.org/presentationml/2006/main">
  <p:tag name="commondata" val="eyJoZGlkIjoiODViZmQwYjNiY2EwYTI4N2Q2NWRiMDE2MDM0MTU1YzIifQ=="/>
  <p:tag name="KSO_WPP_MARK_KEY" val="246609d3-6516-41ae-93d9-060ef43cf280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13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0000"/>
      </a:accent1>
      <a:accent2>
        <a:srgbClr val="FFFF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8">
      <a:majorFont>
        <a:latin typeface="思源黑体 CN Medium"/>
        <a:ea typeface="思源黑体 CN Medium"/>
        <a:cs typeface=""/>
      </a:majorFont>
      <a:minorFont>
        <a:latin typeface="思源黑体 CN Medium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WPS 演示</Application>
  <PresentationFormat>宽屏</PresentationFormat>
  <Paragraphs>131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宋体</vt:lpstr>
      <vt:lpstr>Wingdings</vt:lpstr>
      <vt:lpstr>思源黑体 CN Medium</vt:lpstr>
      <vt:lpstr>黑体</vt:lpstr>
      <vt:lpstr>思源黑体 CN Light</vt:lpstr>
      <vt:lpstr>思源黑体 CN Bold</vt:lpstr>
      <vt:lpstr>微软雅黑</vt:lpstr>
      <vt:lpstr>Arial Unicode MS</vt:lpstr>
      <vt:lpstr>Calibri</vt:lpstr>
      <vt:lpstr>OPPOSans R</vt:lpstr>
      <vt:lpstr>思源黑体 Regular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翰星 昔</dc:creator>
  <cp:lastModifiedBy>冯欣屿</cp:lastModifiedBy>
  <cp:revision>9</cp:revision>
  <dcterms:created xsi:type="dcterms:W3CDTF">2024-03-17T06:26:00Z</dcterms:created>
  <dcterms:modified xsi:type="dcterms:W3CDTF">2026-06-27T13:28:54Z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602D251761064C38AC16E559FBF60BEF_11</vt:lpwstr>
  </property>
  <property fmtid="{D5CDD505-2E9C-101B-9397-08002B2CF9AE}" pid="3" name="KSOProductBuildVer">
    <vt:lpwstr>2052-12.1.0.24034</vt:lpwstr>
  </property>
  <property fmtid="{D5CDD505-2E9C-101B-9397-08002B2CF9AE}" pid="4" name="KSOTemplateUUID">
    <vt:lpwstr>v1.0_mb_C75rLfeI8I9ULuBSt31aBg==</vt:lpwstr>
  </property>
</Properties>
</file>